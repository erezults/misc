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60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</a:rPr>
              <a:t>MWS Market Research | March 2026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889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MWS - Electro-Optical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Missile Warning Systems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47472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Research &amp; Strategic Analysis - Updated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6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 2026 | Rafael Advanced Defense Systems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0D1942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$7.7B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MWS Market (2025)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0D1942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234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$12.5B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83280" y="1874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Forecast (2035)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0D1942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234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4.9%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09360" y="1874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CAGR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235440" y="11887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0D1942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234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$1.6-2.3B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235440" y="1874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MAW Sub-segment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0D1530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97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Trend: Market transitioning from UV to multi-spectral MWIR + AI/ML. Rafael addressable MAW: $2.0B→$3.8B at 6.5% CAGR.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B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Players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BAE Systems - AN/AAR-57 CMWS (USA)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Elbit Systems - PAWS-2 HR (Israel)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Rafael - Sea Spotter / Sky Shield (Israel)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Northrop Grumman - LAIRCM / ATHENA (USA)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Hensoldt - MILDS AN/AAR-60 (Germany)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Thales - Elix-IR / MIRAS (France/UK)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Saab - MAW-300 (Sweden)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- MWS / YILDIRIM (Turkey)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B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Geographic Segmentation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411480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North America - 37-45% market share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Europe - 20-25%, NATO modernization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Asia-Pacific - 20-30%, fastest growth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Middle East - 5-10%, growing demand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Size &amp; Segmentation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B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Platform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00AA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91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Airborne 65-70%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69164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00DDFF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691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Naval 15-20%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69164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00CC6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691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 10-15%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89520" y="1691640"/>
            <a:ext cx="640080" cy="548640"/>
          </a:xfrm>
          <a:prstGeom prst="roundRect">
            <a:avLst>
              <a:gd name="adj" fmla="val 8333"/>
            </a:avLst>
          </a:prstGeom>
          <a:solidFill>
            <a:srgbClr val="FFAA00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16916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E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UAV 5-8%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Airborne 65-70%: Largest segment - helicopters, fighters, transport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Naval 15-20%: Growing - ship self-protection, Sea Spotter domain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 10-15%: Armored vehicles, Trophy integration potential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UAV 5-8%: Fastest growing - blue ocean opportunity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B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Region (with growth rates)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169164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North America 37-45% - CAGR 3.5-4%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Europe 20-25% - CAGR 5-6%, NATO modernization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Asia-Pacific 20-30% - CAGR 8.4-8.7%, fastest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Middle East 5-10% - CAGR 5-7%, FMS driven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of World 5-8% - CAGR 4-5%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0D1530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6177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Adjacent Market: DIRCM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9377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DIRCM market $3.76-5.17B (2025-2035) - MWS is integral component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DIRCM sale includes MWS - key pull-through opportunity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Leaders: Elbit (C/J-MUSIC), Northrop (LAIRCM/CIRCM), Leonardo (Miysis)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Share &amp; Tier 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1A3366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6128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1371600"/>
                <a:gridCol w="4937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Companies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Revenue Share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Characteristics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Tier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Dominant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BAE Systems, Elbit Systems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50-60%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Largest installed bases, US/Israel incumbents, full MWS+DIRCM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Tier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Major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Northrop Grumman, Hensoldt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25-30%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Strong niche positions, LAIRCM/MILDS, gov't contracts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Tier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Challengers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Thales, Saab, Rafael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10-15%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Competitive products, regional strengths, growing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Tier 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Emerging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Aselsan, Indian DRDO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3-5%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Domestic focus, cost advantage, developing capability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B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Share Breakdown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16052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BAE Systems: 30-35%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Elbit Systems: 20-25%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Northrop Grumman: 15-20%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Hensoldt: 10-12%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Thales: 5-8%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Saab: 4-6%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0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B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Installed Base (sensors/systems)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0" y="416052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BAE CMWS: 15,000-20,000+ sensors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Hensoldt MILDS: 7,000+ sensors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Northrop LAIRCM: 5,000-8,000 systems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Elbit PAWS: 3,000-5,000 sensors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 Contracts &amp; Awards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1A3366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6128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457200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Vendor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Program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Jul 2025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Elbit Systems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German A400M J-MUSIC DIRCM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$260M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Jan 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Elbit Systems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APAC Helo EW + DIRCM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$275M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Feb 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BAE Systems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CMWS FMS 20+ nations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$137M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Feb 2024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BAE Systems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CMWS FMS allied nations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$114M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Northrop Grumman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LAIRCM USAF program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$3.6B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 2024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Northrop Grumman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Qatar LAIRCM FMS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$86M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Elbit Systems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Germany add'l J-MUSIC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$73M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Northrop Grumman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 Navy LAIRCM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$115M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48640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0D1530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visible contract value in 2024-2026: ~$4.7B+ | Elbit and Northrop dominating new awards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Landscape - Sensor Types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0D1530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B8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UV - Ultraviolet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Detects UV from missile plume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false alarm (Solar-Blind)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Limited range, misses cruise phase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MILDS, Aselsan MWS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97680" y="118872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0D1530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8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MWIR - Mid-Wave IR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164592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High-res IR imaging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Longer range, better atmosphere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Tracks through flight phase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PAWS-2, Elix-IR, Sea Spotter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38160" y="118872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0D1530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DD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Multi-Spectral (2-Color)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75320" y="164592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Two+ wavelength bands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Dramatic false alarm reduction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ML-enhanced classification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BAE 2CAWS, NG ATHENA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B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Evolution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A3366"/>
          </a:solidFill>
          <a:ln w="12700">
            <a:solidFill>
              <a:srgbClr val="2A44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38912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UV Point Detector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1990s-2000s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47548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83280" y="43891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A3366"/>
          </a:solidFill>
          <a:ln w="12700">
            <a:solidFill>
              <a:srgbClr val="2A44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438912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 Imaging Sensor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2005-2015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47548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09360" y="43891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A3366"/>
          </a:solidFill>
          <a:ln w="12700">
            <a:solidFill>
              <a:srgbClr val="2A44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438912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Multi-Spectral + AI/ML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2015-2025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69680" y="47548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235440" y="43891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0A3322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438912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C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CC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Distributed Aperture + SA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CC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2025+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 Technology Deep Dive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1A3366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116128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560320"/>
                <a:gridCol w="228600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Attribute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UV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Cooled MWIR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Uncooled IR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Multi-Spectral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 (photon)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8-25 mK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40-80 mK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8-25 mK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Ultra-Low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Detection Range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3-5 km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5-15+ km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2-5 km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10-20+ km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Post-Burnout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66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Limited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HFI Capability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Limited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Limited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SWaP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(no cooling)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 (cryo)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Medium-High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MTBF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Highest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Trend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66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Legacy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Growing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Niche (UAV)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Next-Gen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212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B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SWaP Benchmarks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557784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0D1942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577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C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MILDS: 0.7 kg/sensor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557784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0D1942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83280" y="5577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PAWS-2: 1.1 kg/sensor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557784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0D1942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5577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2CAWS: 1.3 kg/sensor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235440" y="557784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0D1942"/>
          </a:solidFill>
          <a:ln w="12700">
            <a:solidFill>
              <a:srgbClr val="00DD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35440" y="5577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UAV Target: &lt;0.5 kg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Competitor Analysis - Key Systems (Updated)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1A3366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43000"/>
          <a:ext cx="117957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822960"/>
                <a:gridCol w="1371600"/>
                <a:gridCol w="201168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System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Manufacturer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Country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Platforms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Installed Base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AN/AAR-57 CMWS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BAE Systems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UV / 2-Color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Helo, Transport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15,000-20,000+ sensors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PAWS-2 HR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Elbit Systems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Israel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MWIR 5MP+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Fighter, Helo, Transport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3,000-5,000 sensors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Sea Spotter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Rafael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Israel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IR Staring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Naval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20+ countries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Sky Shield EW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Rafael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Israel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AESA EW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Fighter, Transport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With Hensoldt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MILDS AN/AAR-60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Hensoldt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Germany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UV Solar-Blind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Helo, Transport, F-16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7,000+ sensors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AN/AAQ-24 LAIRCM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Northrop Grumman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IR 2-Color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Heavy Transport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1,500+ aircraft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AA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ATHENA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AA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Northrop Grumman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2-Color IR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Army rotary/fixed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AA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ITDS Phase II winner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Elix-IR / MIRAS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Thales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France/UK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MWIR Multi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A400M, Helo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Combat-proven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MAW-300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Saab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Sweden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Tornado, Helo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$48M Luftwaffe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C-MUSIC/J-MUSIC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Elbit Systems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Israel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IR (PAWS)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Civil, Transport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Pod 2.7m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YILDIRIM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Aselsan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Turkey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UV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Helo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Dev/Operational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Comparison by Threat Type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1A3366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6128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645920"/>
                <a:gridCol w="1645920"/>
                <a:gridCol w="1188720"/>
                <a:gridCol w="1371600"/>
                <a:gridCol w="914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System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Sensor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MANPADS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(3-6km)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(10-50+km)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AAM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HFI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(RPG/Arms)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PAWS-2 HR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MWIR 5MP+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Excellent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Excellent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&lt;1s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BAE 2CAWS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2-Color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Excellent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Excellent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&lt;1s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CMWS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EO/UV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Excellent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AA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Good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AA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Limited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Gen3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&lt;1s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Elix-IR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MWIR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Excellent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Excellent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AA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Good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&lt;1s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Sea Spotter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IR Staring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667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 Naval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SSM-Excl.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667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667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MILDS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UV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AA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Good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66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Limited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66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Limited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AA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Blk2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&lt;1s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MAW-300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AA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Good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AA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Good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66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Limited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66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AA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Aselsan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UV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AA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Good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66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Limited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66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Limited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66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AA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029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B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 Alarm Rate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53492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 Spotter: ~1 per 24hrs (ML)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BAE 2CAWS: Ultra-low (2-color+ML)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PAWS-2: Very low (5MP discrim.)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MILDS: Very low (UV solar-blind)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297680" y="5029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B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 &amp; Accuracy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297680" y="53492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PAWS-2: Spherical, high accuracy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CMWS: 360 (6 sensors), precise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 Spotter: 360 continuous stare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MILDS: Spherical (4-6 sensors)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138160" y="5029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B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Reliability (MTBF)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38160" y="53492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CMWS: 4M+ combat hours proven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MILDS: 9,600+ hours/sensor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PAWS: Field-proven F-16, helos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 Spotter: 20+ countries ops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Detection Performance Matrix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0D1530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Key: MANPADS effective range 3-6km, kill envelope 1-3km. UV detection ~3-5km, MWIR ~5-15+km. Each additional km adds ~2-3 sec reaction time. IR provides critical advantage for DIRCM cueing.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03120"/>
          <a:ext cx="116128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182880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Threat Type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Range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Speed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IR Signature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Detection Difficulty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Best MWS Approach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MANPADS (IR)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3-6 km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Mach 1.5-2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(motor)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AA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MWIR imaging for max range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Short Range SAM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10-25 km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Mach 2-3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Easy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Any modern MWS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 Range SAM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25-100 km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Mach 3-6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Easy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Multi-spectral classification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AAM (IR)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10-100+ km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Mach 3-4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AA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MWIR + DAS rear hemisphere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RPG / Small Arms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0.3-1 km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Low/Flash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66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HFI-capable MWIR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Sea-Skimming ASM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10-300 km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Mach 0.8-3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Med-High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AA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Staring IR (Sea Spotter)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394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B8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UV-Based (Gen 1-2)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571500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Detection: Motor burn phase only (~3-5 km)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track after motor burnout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Warning time: 3-6 sec (marginal for DIRCM)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0" y="5394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8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MWIR-Based (Gen 3-4)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0" y="571500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Detection: Motor + flight phase (5-15+ km)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tracking, precise for DIRCM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Warning time: 5-10+ sec (sufficient for DIRCM)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BAE Systems - AN/AAR-57 CMWS (Updated)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D1942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15,000-20,000+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Sensors Delivered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D1942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1887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40+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Types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D1942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1887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4M+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0936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Combat Hours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235440" y="1188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D1942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1887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$137M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23544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FMS Contract (2026)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B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EO sensors + internal ECU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 passive - detects EO missile plume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360 full coverage, spherical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LRU replaced in 3-5 min, no special tools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Compatible: Chaff, Flare, RF Decoy, DIRCM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HFI capability + data recording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B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2CAWS Next-Gen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74320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400 units ordered (2024)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 threat classification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2-Color multi-spectral sensors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Ultra-low false alarm rate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Backward compatible with CMWS platforms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 Army primary MWS upgrade path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75488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1A1020"/>
          </a:solidFill>
          <a:ln w="12700">
            <a:solidFill>
              <a:srgbClr val="FF66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8006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NOTE: BAE lost ITDS Phase II to Northrop ATHENA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120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ITDS (Integrated Threat Detection System) Phase II awarded to Northrop Grumman ATHENA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Signals potential shift in US Army MWS future - BAE dominance may be challenged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Elbit Systems - PAWS-2 HR &amp; MUSIC (Updated)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D1942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3,000-5,000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Sensors Deployed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D1942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1887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25+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Aircraft Types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D1942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1887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300K+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0936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Flight Hours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235440" y="1188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D1942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1887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$260M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23544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 A400M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B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PAWS-2 HR (Jun 2025)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5MP+ cooled MWIR sensor - industry-leading resolution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Exceptionally high sampling rate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SAM, AAM, MANPADS - seeker-agnostic detection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HFI: Small arms, RPG, ATGM (helicopter mode)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threat vs non-targeted discrimination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Significantly increased detection ranges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B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 Contracts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74320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$260M - Germany A400M J-MUSIC (Jul 2025)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$275M - APAC Helo EW + DIRCM (Jan 2026)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$80M - Israel Air Force upgrades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$73M - Germany additional J-MUSIC (2025)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civil aviation certified laser DIRCM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Growing dominance in European market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B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MUSIC DIRCM Family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074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C-MUSIC: Large jets, 2.7m pod, civil certified | J-MUSIC: Military transport (A400M) | Mini-MUSIC: Helicopters, compact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use PAWS as integrated MWS - every DIRCM sale = MWS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Northrop Grumman - LAIRCM &amp; ATHENA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D1942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1,500+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Aircraft Protected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D1942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1887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Types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D1942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1887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$3.6B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0936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LAIRCM Program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235440" y="1188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D1942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1887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ITDS II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23544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ATHENA Winner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B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Portfolio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AN/AAR-54 - Missile Warning Sensor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AN/AAQ-24 LAIRCM - Large Aircraft IR CM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CIRCM - Common IR Countermeasures (compact)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ATHENA - Next-gen Army MWS (ITDS Phase II)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B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Programs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7432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LAIRCM USAF: $3.6B ongoing program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 Navy LAIRCM: $115M contract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Qatar LAIRCM FMS: $86M (Dec 2024)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CIRCM: replacing LAIRCM for lighter platforms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11247120" cy="1828800"/>
          </a:xfrm>
          <a:prstGeom prst="roundRect">
            <a:avLst>
              <a:gd name="adj" fmla="val 4000"/>
            </a:avLst>
          </a:prstGeom>
          <a:solidFill>
            <a:srgbClr val="0A2233"/>
          </a:solidFill>
          <a:ln w="19050">
            <a:solidFill>
              <a:srgbClr val="FFA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434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ATHENA - Next US Army MWS Standard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480060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Won ITDS Phase II over BAE Systems - signals major shift in US Army MWS direction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2-Color IR sensor technology - multi-spectral threat detection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51+ test hours completed in evaluation phase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for both rotary-wing and fixed-wing Army platforms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Could become the next standard US Army MWS, replacing CMWS in the long term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European &amp; Turkish Players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0D1530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B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Hensoldt - MILDS AN/AAR-60 | Germany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UV Solar-Blind imaging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7,000+ sensors deployed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Tiger, NH90, CH-53, CH-47, C-130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2: HFI + recording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MILDS F: Fighter (Belgian F-16)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 sensors for German C-130J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0D1530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234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B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Thales - Elix-IR &amp; MIRAS | France/UK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55080" y="155448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Multi-function IR sensor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MAW + HFI + SA from single sensor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MIRAS: combat-proven French A400M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NATO Vidsel trials: multi-missile defeat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Integrated with Leonardo Miysis DIRCM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0D1530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794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B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Saab - MAW-300 | Sweden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411480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Joint Sweden-South Africa dev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Wing-mounted pod + integral CM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$48M Luftwaffe Tornado contract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Paired with Leonardo Miysis DIRCM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0D1530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794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B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- MWS + YILDIRIM | Turkey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411480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UV passive, 360 (4 sensors)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HEWS program for Turkish helos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YILDIRIM: twin-head DIRCM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Growing independent player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Rafael Advanced Defense Systems (Updated)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0A1A2D"/>
          </a:solidFill>
          <a:ln w="12700">
            <a:solidFill>
              <a:srgbClr val="0066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 Spotter - Naval IRST/MWS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3rd gen fully staring naval IRST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IR stare (not scanning)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SSM, ASM, sea-skimming detection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 alarm: ~1/24hrs (ML)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360 continuous passive, 20+ navies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transferable to airborne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0" y="10972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0A1A2D"/>
          </a:solidFill>
          <a:ln w="12700">
            <a:solidFill>
              <a:srgbClr val="0066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143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Sky Shield - EW Escort Pod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146304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EW Escort Jammer &amp; EA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AESA technology, high ERP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Hensoldt partnership (Typhoon)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ESJ capability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 European market access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0A1A2D"/>
          </a:solidFill>
          <a:ln w="12700">
            <a:solidFill>
              <a:srgbClr val="0066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429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Trophy APS - Ground Vehicle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74904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Protection System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Missile warning + hard kill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Combat-proven (IDF, US Army)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MWS component for ground vehicles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EO detection + radar tracking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33832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0A1A2D"/>
          </a:solidFill>
          <a:ln w="12700">
            <a:solidFill>
              <a:srgbClr val="0066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429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Litening 5 - Targeting Pod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374904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1,900+ pods, 27 air forces, 2M+ hrs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EO+: EW, Comm, IRST fusion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Proves world-class EO/IR capability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Supply chain and production scale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relationships for MWS entry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57607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6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5760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6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airborne MWS | No DIRCM | No DO-178/DO-254 certification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5760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C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Advantages: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0" y="5760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C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MWIR FPA | Sea Spotter arch | Combat-proven | Trophy | Export flex | Dual-domain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Segments &amp; Pain Points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0D1530"/>
          </a:solidFill>
          <a:ln w="12700">
            <a:solidFill>
              <a:srgbClr val="FF66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Helicopter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34640" y="1234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6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Pain: HIGH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MANPADS target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altitude = short warning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Retrofit huge installed base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UV→IR upgrade demand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11887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0D153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Fixed-Wing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1234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A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Pain: MED-HIGH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34840" y="160020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Fighters: DAS trend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Transport: DIRCM mandatory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Tankers: high-value target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Certification required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138160" y="11887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0D1530"/>
          </a:solidFill>
          <a:ln w="12700">
            <a:solidFill>
              <a:srgbClr val="FF66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0" y="1234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6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Pain: HIGH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75320" y="160020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Sea-skimming ASM threat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 EO-MWS options exist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 engagement timelines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 Spotter unique position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0D1530"/>
          </a:solidFill>
          <a:ln w="12700">
            <a:solidFill>
              <a:srgbClr val="FF66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UAV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3794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6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Pain: VERY HIGH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16052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dedicated MWS exists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SWaP constraints extreme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Expendable vs high-value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Growing fleet sizes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97680" y="37490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0D1530"/>
          </a:solidFill>
          <a:ln w="12700">
            <a:solidFill>
              <a:srgbClr val="FF66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 Vehicle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3794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6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Pain: HIGH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34840" y="416052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ATGM + RPG threats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Trophy MWS component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Urban warfare needs HFI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Cost-sensitive per unit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138160" y="37490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0D153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 Ops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0" y="3794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A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Pain: MEDIUM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75320" y="416052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fleet, high value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integration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Rapid deployment needed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price-sensitive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Criteria &amp; Decision Drivers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0D1530"/>
          </a:solidFill>
          <a:ln w="19050">
            <a:solidFill>
              <a:srgbClr val="00CC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C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 Have (Threshold)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360° coverage with minimal blind zones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 alarm rate &lt; 1 per 100 flight hours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 range &gt; 3km for MANPADS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Reaction time &lt; 1 second to DIRCM cue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MIL-STD-810 environmental qualification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Certification: DO-178C/DO-254 for airborne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297680" y="118872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0D1530"/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1234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Discriminators (Competitive)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34840" y="164592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MWIR or multi-spectral sensor (vs UV)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HFI capability (RPG, small arms)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Post-burnout tracking capability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AI/ML threat classification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architecture / standard interfaces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Multi-mission (MWS + SA + ISR)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138160" y="118872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0D1530"/>
          </a:solidFill>
          <a:ln w="19050">
            <a:solidFill>
              <a:srgbClr val="FFA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234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Factors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75320" y="164592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Lifecycle cost (O&amp;S = 70% of 20yr cost)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 offset / local content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control flexibility (ITAR-free)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Installed base compatibility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 support &amp; sustainment model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transfer willingness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512064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0D153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1663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Lifecycle Cost Insight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 &amp; Sustainment (O&amp;S) = 70% of total 20-year lifecycle cost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Cryo-cooled MWIR has higher O&amp;S than UV (cooler replacement, calibration) - but performance gap justifies it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for low O&amp;S: uncooled options for UAV, modular LRU for rapid field swap, AI-based predictive maintenance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 Spaces &amp; Unmet Needs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0D1530"/>
          </a:solidFill>
          <a:ln w="19050">
            <a:solidFill>
              <a:srgbClr val="FF66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UAV MWS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1234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6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dedicated MWS for UAVs exists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SWaP target: &lt;500g, &lt;5W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Growing fleet: 50,000+ military UAVs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Uncooled MWIR or AI-enhanced UV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Rafael advantage: miniaturization expertise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11887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0D1530"/>
          </a:solidFill>
          <a:ln w="19050">
            <a:solidFill>
              <a:srgbClr val="FFA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Naval EO MWS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1234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A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34840" y="160020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 Spotter nearly alone in segment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navies rely on radar-only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EO adds passive detection layer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Anti-ship missile threat growing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Rafael is incumbent - expand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138160" y="11887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0D1530"/>
          </a:solidFill>
          <a:ln w="19050">
            <a:solidFill>
              <a:srgbClr val="FFA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 Vehicle HFI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24160" y="1234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A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UNDERSERVED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75320" y="160020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RPG/ATGM warning for AFVs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Trophy has MWS component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Urban warfare demands HFI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target: &lt;$50K per vehicle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Huge vehicle fleet worldwide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0D1530"/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94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ITAR-Free MWS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3794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GAP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416052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 systems have ITAR restrictions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Many countries cannot buy US MWS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Israeli/European systems advantage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Non-ITAR supply chain = differentiator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Defense Fund favors European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97680" y="37490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0D1530"/>
          </a:solidFill>
          <a:ln w="19050">
            <a:solidFill>
              <a:srgbClr val="00D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3794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Architecture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3794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GAP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34840" y="416052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MWS are proprietary/closed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 want plug-and-play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interfaces (SOSA, MOSA)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Enables best-of-breed integration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mover advantage available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Control &amp; ITAR Considerations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5394960" cy="2560320"/>
          </a:xfrm>
          <a:prstGeom prst="roundRect">
            <a:avLst>
              <a:gd name="adj" fmla="val 2857"/>
            </a:avLst>
          </a:prstGeom>
          <a:solidFill>
            <a:srgbClr val="0D1530"/>
          </a:solidFill>
          <a:ln w="12700">
            <a:solidFill>
              <a:srgbClr val="FF66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ITAR Constraints on US Systems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51206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BAE CMWS/2CAWS - ITAR controlled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Northrop LAIRCM/CIRCM/ATHENA - ITAR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FMS process adds 12-24 months to delivery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End-use monitoring requirements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transfer restrictions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be re-exported without US approval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Limits sales to non-US allied nations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394960" cy="2560320"/>
          </a:xfrm>
          <a:prstGeom prst="roundRect">
            <a:avLst>
              <a:gd name="adj" fmla="val 2857"/>
            </a:avLst>
          </a:prstGeom>
          <a:solidFill>
            <a:srgbClr val="0D1530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34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C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Israeli Advantage (Non-ITAR)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1600200"/>
            <a:ext cx="51206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Elbit &amp; Rafael systems are non-ITAR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export approval process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flexible end-user agreements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sell to countries excluded from US FMS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India, SE Asia, Latin America markets open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 cooperation easier to arrange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differentiator for 30+ countries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0D1530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069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Defense Fund Opportunity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4434840"/>
            <a:ext cx="5120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European Defence Fund favors EU-sourced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Hensoldt partnership opens EU programs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PESCO projects require EU content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Growing European defense sovereignty push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Rafael/Hensoldt collaboration strategic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40233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0D153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4069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Imperative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4434840"/>
            <a:ext cx="5120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ITAR-free supply chain from Day 1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Israeli/European IR detectors (SCD)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Avoid US-origin FPGA/processors where possible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ITAR-free status for marketing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advantage: no FMS markup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 Physical &amp; Performance Specifications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1A3366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43000"/>
          <a:ext cx="117957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463040"/>
                <a:gridCol w="1463040"/>
                <a:gridCol w="1463040"/>
                <a:gridCol w="1645920"/>
                <a:gridCol w="14630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Parameter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PAWS-2 HR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(Elbit)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CMWS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(BAE)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MILDS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(Hensoldt)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Elix-IR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(Thales)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Sea Spotter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(Rafael)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MAW-300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(Saab)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Spectral Band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MWIR 3-5µm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UV + IR (4µm)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UV Solar-Blind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MWIR Wide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MWIR 3-5µm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Detector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Cooled MWIR FPA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Staring FPA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UV Imaging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Cooled Color IR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InSb Staring FPA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Image Int. + FPA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Resolution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5+ Megapixels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Classified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Imaging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High-res color IR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Staring array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Photon-count FPA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FOV/Sensor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~90-120°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~90-120°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~90-120°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Wide-angle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360° cont. stare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~100° cone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Sensors for 360°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4-6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4-6 (spherical)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4-6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Multiple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staring units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Sensor Size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Compact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10.8x8.5 cm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12x12x12 cm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~UV size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Naval install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Wing-pod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Weight/Sensor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~1.1 kg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~1.3 kg (2CAWS)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~0.7 kg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~UV weight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Naval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Pod-integrated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Cooling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AA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Cryo-cooled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Uncooled/Cooled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 (UV)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AA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Cryo-cooled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AA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Close-cycle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Image intens.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~8-25 mK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 (UV)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Solar-blind opt.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~8-25 mK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~8-25 mK (InSb)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Photon level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MTBF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Field-proven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4M+ combat hrs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9,600+ hrs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NATO proven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20+ countries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21208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0D1530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2578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MWIR Cooled (PAWS-2, Elix-IR, Sea Spotter): InSb/MCT FPA, 77-85K, NETD 8-25mK, 15µm pitch, 640x512+. Superior sensitivity &amp; range, needs cryo-cooling.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UV Solar-Blind (MILDS, Aselsan): No cooling (SWaP advantage), but motor-burn phase only. Lower sensitivity to low-signature threats.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Staring vs Scanning: Sea Spotter fully staring (no mech. scanning) = continuous 360° with ML, achieving ~1 false alarm/24hrs.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SWOT Analysis - Rafael MWS Market Entry (Updated)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0D1530"/>
          </a:solidFill>
          <a:ln w="19050">
            <a:solidFill>
              <a:srgbClr val="00CC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C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 - Strengths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Growing market $7.7B→$12.5B (4.9% CAGR)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UV→MWIR transition = incumbents less relevant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 Spotter + Sky Shield + Trophy ecosystem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Naval domain underserved (Sea Spotter unique)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Litening 1,900+ pods proves EO/IR scale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0D1530"/>
          </a:solidFill>
          <a:ln w="19050">
            <a:solidFill>
              <a:srgbClr val="FF66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34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6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 - Weaknesses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155448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airborne MWS product yet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 entry vs BAE (15K+), Elbit (PAWS)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DO-178/DO-254 certification burden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switching costs (crews, spares)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DIRCM product in portfolio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0D1530"/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977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- Opportunities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429768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Retrofit UV→MWIR = massive upgrade market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UAV MWS = blue ocean, no dedicated product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Asia-Pacific CAGR 8.7%, less locked-in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Hensoldt partnership opens EU programs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 Spotter ML transferable to airborne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393192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0D1530"/>
          </a:solidFill>
          <a:ln w="19050">
            <a:solidFill>
              <a:srgbClr val="FFA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977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- Threats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429768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Elbit PAWS-2 HR 5MP+ sets new MWIR bar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BAE deeply embedded, 15K+ sensors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 trend may bypass standalone MWS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Israeli export restrictions to some markets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Gen4 MANPADS with UV/IR ECCM evolving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Rafael MWS Product Family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3840480"/>
          </a:xfrm>
          <a:prstGeom prst="roundRect">
            <a:avLst>
              <a:gd name="adj" fmla="val 2759"/>
            </a:avLst>
          </a:prstGeom>
          <a:solidFill>
            <a:srgbClr val="0D1530"/>
          </a:solidFill>
          <a:ln w="19050">
            <a:solidFill>
              <a:srgbClr val="00DD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MWS-UAV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Unmanned Platforms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Weight: &lt;800g per sensor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Uncooled MWIR or AI-enhanced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Power: &lt;5W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SWaP-optimized design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price: &lt;$30K/unit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 ocean - no competitor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651760" cy="3840480"/>
          </a:xfrm>
          <a:prstGeom prst="roundRect">
            <a:avLst>
              <a:gd name="adj" fmla="val 2759"/>
            </a:avLst>
          </a:prstGeom>
          <a:solidFill>
            <a:srgbClr val="0D1530"/>
          </a:solidFill>
          <a:ln w="19050">
            <a:solidFill>
              <a:srgbClr val="00CC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234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C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MWS-H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1554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Helicopter / Rotary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192024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Dual-band MWIR sensor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Weight: &lt;10 kg (system)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HFI: RPG, ATGM, small arms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DIRCM-ready interface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Retrofit UV replacements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Target: NH90, Black Hawk class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2651760" cy="3840480"/>
          </a:xfrm>
          <a:prstGeom prst="roundRect">
            <a:avLst>
              <a:gd name="adj" fmla="val 2759"/>
            </a:avLst>
          </a:prstGeom>
          <a:solidFill>
            <a:srgbClr val="0D1530"/>
          </a:solidFill>
          <a:ln w="19050">
            <a:solidFill>
              <a:srgbClr val="FFA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234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A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MWS-GV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 Vehicle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46520" y="192024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MWIR + acoustic fusion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Weight: &lt;15 kg installed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Trophy integration option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target: &lt;$50K per vehicle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Urban warfare HFI focus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Huge addressable fleet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235440" y="1188720"/>
            <a:ext cx="2651760" cy="3840480"/>
          </a:xfrm>
          <a:prstGeom prst="roundRect">
            <a:avLst>
              <a:gd name="adj" fmla="val 2759"/>
            </a:avLst>
          </a:prstGeom>
          <a:solidFill>
            <a:srgbClr val="0D1530"/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1234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MWS-N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26880" y="1554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Naval (Sea Spotter MAW)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72600" y="192024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Based on Sea Spotter architecture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Maritime-optimized algorithms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SSM, ASM, FAC detection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ML-based FAR ~1/24hrs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Already deployed - evolve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MAW classification layer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530352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0A2233"/>
          </a:solidFill>
          <a:ln w="12700">
            <a:solidFill>
              <a:srgbClr val="00D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Architecture: Shared MWIR FPA core | Common AI/ML threat library | Standard SOSA/MOSA interfaces | ITAR-free supply chain | Modular LRU design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Go-to-Market Strategy - Phased 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0D1530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C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1: Naval (0-18 months)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with Sea Spotter MAW evolution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missile warning classification to existing Sea Spotter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Leverage 20+ navy customer relationships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0" y="15544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risk - extend proven product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potential: $20-40M/year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MWS brand and track record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0D1530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2: Ground (18-36 months)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Trophy-integrated MWS for ground vehicles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Leverage Trophy customer base (IDF, US Army, Europe)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MWIR + acoustic fusion for HFI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31089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target &lt;$50K enables volume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potential: $30-60M/year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Partnership with Trophy team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0D153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3: Airborne (36-72 months)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6634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non-US markets first: India LCH/Mi-17, APAC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Hensoldt partnership for European certification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with helicopter MWS (MWS-H) - simpler certification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46634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Avoid head-on US market competition initially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potential: $40-80M/year at maturity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UAV MWS (MWS-UAV) parallel development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5852160"/>
            <a:ext cx="11247120" cy="365760"/>
          </a:xfrm>
          <a:prstGeom prst="roundRect">
            <a:avLst>
              <a:gd name="adj" fmla="val 12500"/>
            </a:avLst>
          </a:prstGeom>
          <a:solidFill>
            <a:srgbClr val="0A2233"/>
          </a:solidFill>
          <a:ln w="12700">
            <a:solidFill>
              <a:srgbClr val="00D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Timeline: First revenue in 12-18 months (Naval) | Ground at 24 months | Airborne at 48 months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Opportunity &amp; Forecast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1A3366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6128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1371600"/>
                <a:gridCol w="1371600"/>
                <a:gridCol w="49377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Scenario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Market Share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by 2030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Annual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Revenue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Cumulative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(5yr)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 Assumptions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94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AA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Conservative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1-2%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$28-56M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$80-160M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Naval only, existing customers, Sea Spotter evolution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 Case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$84M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C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$250M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Naval + Ground, Trophy integration, select APAC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Optimistic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$140M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D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$420M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domains, airborne entry, Hensoldt EU partnership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B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by Domain (Base Case 2030)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43891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0D1942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434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(Sea Spotter MAW)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983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$25-35M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5486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30-40%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43891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0D1942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83280" y="4434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(Trophy MWS)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83280" y="4983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C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$20-30M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383280" y="5486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25-35%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09360" y="43891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0D1942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4434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Airborne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(MWS-H/UAV)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09360" y="4983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A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$15-25M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309360" y="5486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20-25%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235440" y="43891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0D1942"/>
          </a:solidFill>
          <a:ln w="12700">
            <a:solidFill>
              <a:srgbClr val="00DD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35440" y="4434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Sustainment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235440" y="4983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$10-15M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9235440" y="5486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10-15%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&amp;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0D1530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Bottom Line: MWS market at technological inflection point. UV→MWIR + AI transition creates $2.8B addressable opportunity. Rafael has unique assets (Sea Spotter, Trophy, Litening) but must act now. Target: 3-5% share = $84-140M/year by 2030.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B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Recommendations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0D1530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C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Start Naval - Sea Spotter MAW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Lowest risk, fastest revenue. Add missile warning classification to proven Sea Spotter. 12-18 month timeline.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0" y="25603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0D1530"/>
          </a:solidFill>
          <a:ln w="12700">
            <a:solidFill>
              <a:srgbClr val="00D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Develop MWS-UAV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292608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 ocean opportunity. No competitor exists. &lt;800g, uncooled MWIR. Partner with UAV OEMs for design-in.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0D1530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840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Trophy MWS for Ground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41605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Leverage Trophy combat record. MWIR + acoustic fusion. Huge AFV fleet worldwide. &lt;$50K target.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0D153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840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Hensoldt EU Partnership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41605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EU Defense Fund programs. Joint certification. MILDS replacement pathway. European market entry.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502920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0D1530"/>
          </a:solidFill>
          <a:ln w="12700">
            <a:solidFill>
              <a:srgbClr val="BB8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5074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8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ITAR-Free Supply Chain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539496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non-ITAR from Day 1. Israeli IR detectors (SCD). Opens 30+ countries blocked from US systems.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502920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0D1530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5074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Open Architecture First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539496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SOSA/MOSA standard interfaces. Plug-and-play integration. Differentiate from proprietary incumbents.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630936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0A2233"/>
          </a:solidFill>
          <a:ln w="19050">
            <a:solidFill>
              <a:srgbClr val="00CC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09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C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Target: 3% market share = $84M/year | 5% = $140M/year by 2030 | First revenue in 12-18 months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MWS Market Research - EO Missile Warning Systems v3</dc:title>
  <dc:subject>PptxGenJS Presentation</dc:subject>
  <dc:creator>Business Analysis</dc:creator>
  <cp:lastModifiedBy>Business Analysis</cp:lastModifiedBy>
  <cp:revision>1</cp:revision>
  <dcterms:created xsi:type="dcterms:W3CDTF">2026-03-09T18:09:30Z</dcterms:created>
  <dcterms:modified xsi:type="dcterms:W3CDTF">2026-03-09T18:09:30Z</dcterms:modified>
</cp:coreProperties>
</file>